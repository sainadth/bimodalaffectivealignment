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E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B2A4E"/>
                </a:solidFill>
                <a:latin typeface="Calibri"/>
              </a:rPr>
              <a:t>Matched bimodal benchmark (FER-7 top-1, 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E07856">
                <a:alpha val="95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078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5A9-6348-B2E1-44F11E2CCD61}"/>
              </c:ext>
            </c:extLst>
          </c:dPt>
          <c:dPt>
            <c:idx val="1"/>
            <c:invertIfNegative val="0"/>
            <c:bubble3D val="0"/>
            <c:spPr>
              <a:solidFill>
                <a:srgbClr val="1B2A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5A9-6348-B2E1-44F11E2CCD61}"/>
              </c:ext>
            </c:extLst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5A9-6348-B2E1-44F11E2CCD61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4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α = 1 (text only)</c:v>
                </c:pt>
                <c:pt idx="1">
                  <c:v>α = 0.5 (fused)</c:v>
                </c:pt>
                <c:pt idx="2">
                  <c:v>α = 0 (face only)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82.6</c:v>
                </c:pt>
                <c:pt idx="1">
                  <c:v>81.599999999999994</c:v>
                </c:pt>
                <c:pt idx="2">
                  <c:v>23.1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5A9-6348-B2E1-44F11E2CCD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187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 ·  HCI / AFFECTIVE COMPUTING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Bimodal Affective Alignment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Conversational Empathy through Textual and Facial Fusion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463040" cy="0"/>
          </a:xfrm>
          <a:prstGeom prst="line">
            <a:avLst/>
          </a:prstGeom>
          <a:noFill/>
          <a:ln w="254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Sainadth Pagadala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Vishakan Umapathy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Minhua Huang  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(Advisor)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35204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Engineering and Computer Science</a:t>
            </a:r>
            <a:endParaRPr lang="en-US" sz="1200" dirty="0"/>
          </a:p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A&amp;M University–Corpus Christi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RoBERTa  ·  ResNet-50  ·  Late Fusion  ·  FLAN-T5  ·  Streamlit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unimodal system misreads the room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Affective Alignment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547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73152" cy="2331720"/>
          </a:xfrm>
          <a:prstGeom prst="rect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490472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alone is easy to fool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36347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 reads as cheerful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polite "I'm fine" hides distress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Deadpan one-liners give almost no signal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32020" y="1325880"/>
            <a:ext cx="39547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32020" y="1325880"/>
            <a:ext cx="73152" cy="23317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60620" y="1490472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alone has the mirror weakness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60620" y="1965960"/>
            <a:ext cx="36347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neutral face across moods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lighting, off-axis poses, occlusion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 between training and inference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1B2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claim: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both channels gives a second opinion when both agree, and a way to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disagreement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they don't.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Contributions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concrete deliverables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Affective Alignment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02920" cy="502920"/>
          </a:xfrm>
          <a:prstGeom prst="ellipse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261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pipeline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5361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face → 7-way affect → empathetic reply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975104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975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19568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Label-space alignment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2311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surjection: 28 GoEmotions → 7 FER classes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670048"/>
            <a:ext cx="502920" cy="502920"/>
          </a:xfrm>
          <a:prstGeom prst="ellipse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2651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Streamlit demo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2926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every intermediate signal for inspection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364992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88720" y="33467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FER2013 fine-tune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362102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Lifts visual top-1 from 23.1% → 68.5%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059936"/>
            <a:ext cx="502920" cy="502920"/>
          </a:xfrm>
          <a:prstGeom prst="ellipse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88720" y="4041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benchmarks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88720" y="43159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Ablation, α-sensitivity, dissonance, latency scripts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· Both branches align to the same FER-7 label set before fusion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Affective Alignment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280160" cy="640080"/>
          </a:xfrm>
          <a:prstGeom prst="rect">
            <a:avLst/>
          </a:prstGeom>
          <a:solidFill>
            <a:srgbClr val="1B2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 (utterance)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1280160" cy="640080"/>
          </a:xfrm>
          <a:prstGeom prst="rect">
            <a:avLst/>
          </a:prstGeom>
          <a:solidFill>
            <a:srgbClr val="1B2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(image frame)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1417320"/>
            <a:ext cx="22860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94560" y="1417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RoBERTa–GoEmotions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94560" y="2880360"/>
            <a:ext cx="22860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94560" y="2880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 (7-way FER)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37360" y="1737360"/>
            <a:ext cx="457200" cy="0"/>
          </a:xfrm>
          <a:prstGeom prst="line">
            <a:avLst/>
          </a:prstGeom>
          <a:noFill/>
          <a:ln w="19050">
            <a:solidFill>
              <a:srgbClr val="1B2A4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37360" y="3200400"/>
            <a:ext cx="457200" cy="0"/>
          </a:xfrm>
          <a:prstGeom prst="line">
            <a:avLst/>
          </a:prstGeom>
          <a:noFill/>
          <a:ln w="19050">
            <a:solidFill>
              <a:srgbClr val="1B2A4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17720" y="141732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17720" y="14173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P_text ∈ ℝ⁷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288036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17720" y="28803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P_face ∈ ℝ⁷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1737360"/>
            <a:ext cx="137160" cy="0"/>
          </a:xfrm>
          <a:prstGeom prst="line">
            <a:avLst/>
          </a:prstGeom>
          <a:noFill/>
          <a:ln w="19050">
            <a:solidFill>
              <a:srgbClr val="1B2A4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80560" y="3200400"/>
            <a:ext cx="137160" cy="0"/>
          </a:xfrm>
          <a:prstGeom prst="line">
            <a:avLst/>
          </a:prstGeom>
          <a:noFill/>
          <a:ln w="19050">
            <a:solidFill>
              <a:srgbClr val="1B2A4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89320" y="2011680"/>
            <a:ext cx="1280160" cy="914400"/>
          </a:xfrm>
          <a:prstGeom prst="rect">
            <a:avLst/>
          </a:prstGeom>
          <a:solidFill>
            <a:srgbClr val="1B2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89320" y="20116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fusion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α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23560" y="1737360"/>
            <a:ext cx="365760" cy="731520"/>
          </a:xfrm>
          <a:prstGeom prst="line">
            <a:avLst/>
          </a:prstGeom>
          <a:noFill/>
          <a:ln w="19050">
            <a:solidFill>
              <a:srgbClr val="1B2A4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flipV="1">
            <a:off x="5623560" y="2743200"/>
            <a:ext cx="365722" cy="457200"/>
          </a:xfrm>
          <a:prstGeom prst="line">
            <a:avLst/>
          </a:prstGeom>
          <a:noFill/>
          <a:ln w="19050">
            <a:solidFill>
              <a:srgbClr val="1B2A4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543800" y="2194560"/>
            <a:ext cx="548640" cy="548640"/>
          </a:xfrm>
          <a:prstGeom prst="ellipse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438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b*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69480" y="2468880"/>
            <a:ext cx="274320" cy="0"/>
          </a:xfrm>
          <a:prstGeom prst="line">
            <a:avLst/>
          </a:prstGeom>
          <a:noFill/>
          <a:ln w="19050">
            <a:solidFill>
              <a:srgbClr val="1B2A4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0" y="4069080"/>
            <a:ext cx="3657600" cy="548640"/>
          </a:xfrm>
          <a:prstGeom prst="rect">
            <a:avLst/>
          </a:prstGeom>
          <a:solidFill>
            <a:srgbClr val="0F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0" y="4069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  →  R  (empathetic reply)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818120" y="2743200"/>
            <a:ext cx="0" cy="1600200"/>
          </a:xfrm>
          <a:prstGeom prst="line">
            <a:avLst/>
          </a:prstGeom>
          <a:noFill/>
          <a:ln w="1905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00800" y="4343400"/>
            <a:ext cx="1417320" cy="0"/>
          </a:xfrm>
          <a:prstGeom prst="line">
            <a:avLst/>
          </a:prstGeom>
          <a:noFill/>
          <a:ln w="19050">
            <a:solidFill>
              <a:srgbClr val="1B2A4E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and the FER-7 class string for b* are the only inputs to the language model.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Fusion: A Single Trust Knob 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1 · One parameter, three operating points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Affective Alignment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solidFill>
            <a:srgbClr val="1B2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b*  =  argmax_k  [  α · P_text(k)  +  (1 − α) · P_face(k)  ],     α ∈ [0, 1]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80060" y="278892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" y="2788920"/>
            <a:ext cx="2606040" cy="45720"/>
          </a:xfrm>
          <a:prstGeom prst="rect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" y="29535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8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0060" y="3383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" y="3703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text-only ablation; ignores the face entirely.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8980" y="278892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68980" y="2788920"/>
            <a:ext cx="2606040" cy="45720"/>
          </a:xfrm>
          <a:prstGeom prst="rect">
            <a:avLst/>
          </a:prstGeom>
          <a:solidFill>
            <a:srgbClr val="1B2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68980" y="29535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0.5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68980" y="3383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(default)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51860" y="3703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default; inherits whichever branch is more confident.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57900" y="278892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57900" y="2788920"/>
            <a:ext cx="2606040" cy="457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57900" y="29535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57900" y="3383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only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40780" y="3703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face-only ablation; ignores the utterance.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Dissonance flag fires whenever  argmax P_text ≠ argmax P_face.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the Label Spaces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GoEmotions labels  →  7 FER classes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Affective Alignment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GoEmotions has 28 fine-grained labels.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 branch resolves only 7.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Hand-coded surjection — one Python dict.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GoEmotions string maps to exactly one FER-7 class.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GoEmotions is multi-label (sigmoid scores), so we sum the sigmoid mass landing in each FER-7 bin and renormalize.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3931920" cy="263347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FER-7 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GoEmotions labels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anger, annoyance, disapproval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Disgust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disgust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fear, nervousness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joy, amusement, excitement, love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sadness, grief, remorse, disappointment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surprise, realization, curiosity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neutral, approval, caring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40690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subset · full surjection lives as a single dict in the codebase.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Models, One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checkpoints + a deterministic prompt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Affective Alignment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8620" y="1280160"/>
            <a:ext cx="269748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8620" y="1280160"/>
            <a:ext cx="2697480" cy="777240"/>
          </a:xfrm>
          <a:prstGeom prst="rect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150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RoBERTa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7150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sensor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150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RoBERTa-base GoEmotions checkpoint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1500" y="2788920"/>
            <a:ext cx="233172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1500" y="2880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SamLowe/roberta-base-go_emotions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1500" y="3703320"/>
            <a:ext cx="233172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1500" y="37947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P_text over 7 FER classes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23260" y="1280160"/>
            <a:ext cx="269748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23260" y="1280160"/>
            <a:ext cx="2697480" cy="7772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0614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ResNet-50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0614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sensor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0614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7-way head, 224×224 RGB input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06140" y="2788920"/>
            <a:ext cx="233172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06140" y="2880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ElenaRyumina/face_emotion_recognition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06140" y="3703320"/>
            <a:ext cx="233172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06140" y="37947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P_face over 7 FER classes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57900" y="1280160"/>
            <a:ext cx="269748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57900" y="1280160"/>
            <a:ext cx="2697480" cy="777240"/>
          </a:xfrm>
          <a:prstGeom prst="rect">
            <a:avLst/>
          </a:prstGeom>
          <a:solidFill>
            <a:srgbClr val="1B2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4078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FLAN-T5 (base)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4078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generator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4078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220M params · deterministic beam search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40780" y="2788920"/>
            <a:ext cx="233172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40780" y="2880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n_beams=4, no-repeat 3-grams, 18–128 tokens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40780" y="3703320"/>
            <a:ext cx="233172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40780" y="37947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short empathetic reply 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vectors are never exposed to the language model — only U and the fused class string.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Interface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system reason, don't just trust the output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Affective Alignment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1206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120640" cy="365760"/>
          </a:xfrm>
          <a:prstGeom prst="rect">
            <a:avLst/>
          </a:prstGeom>
          <a:solidFill>
            <a:srgbClr val="0F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●  ●     Bimodal Affect Demo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weight 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4754880" cy="54864"/>
          </a:xfrm>
          <a:prstGeom prst="rect">
            <a:avLst/>
          </a:prstGeom>
          <a:solidFill>
            <a:srgbClr val="D9DE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34640" y="2011680"/>
            <a:ext cx="228600" cy="228600"/>
          </a:xfrm>
          <a:prstGeom prst="ellipse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0" y="22402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78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225546"/>
            <a:ext cx="164592" cy="477774"/>
          </a:xfrm>
          <a:prstGeom prst="rect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1248" y="3573018"/>
            <a:ext cx="164592" cy="130302"/>
          </a:xfrm>
          <a:prstGeom prst="rect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42416" y="3025750"/>
            <a:ext cx="164592" cy="677570"/>
          </a:xfrm>
          <a:prstGeom prst="rect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43584" y="3442716"/>
            <a:ext cx="164592" cy="260604"/>
          </a:xfrm>
          <a:prstGeom prst="rect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444752" y="3599078"/>
            <a:ext cx="164592" cy="104242"/>
          </a:xfrm>
          <a:prstGeom prst="rect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45920" y="3312414"/>
            <a:ext cx="164592" cy="390906"/>
          </a:xfrm>
          <a:prstGeom prst="rect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47088" y="3529584"/>
            <a:ext cx="164592" cy="173736"/>
          </a:xfrm>
          <a:prstGeom prst="rect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67712" y="2606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67712" y="3573018"/>
            <a:ext cx="164592" cy="13030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468880" y="3025750"/>
            <a:ext cx="164592" cy="67757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670048" y="3442716"/>
            <a:ext cx="164592" cy="26060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871216" y="3599078"/>
            <a:ext cx="164592" cy="10424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072384" y="3312414"/>
            <a:ext cx="164592" cy="390906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73552" y="3529584"/>
            <a:ext cx="164592" cy="173736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474720" y="3225546"/>
            <a:ext cx="164592" cy="47777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95344" y="2606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95344" y="3025750"/>
            <a:ext cx="164592" cy="677570"/>
          </a:xfrm>
          <a:prstGeom prst="rect">
            <a:avLst/>
          </a:prstGeom>
          <a:solidFill>
            <a:srgbClr val="1B2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096512" y="3442716"/>
            <a:ext cx="164592" cy="260604"/>
          </a:xfrm>
          <a:prstGeom prst="rect">
            <a:avLst/>
          </a:prstGeom>
          <a:solidFill>
            <a:srgbClr val="1B2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297680" y="3599078"/>
            <a:ext cx="164592" cy="104242"/>
          </a:xfrm>
          <a:prstGeom prst="rect">
            <a:avLst/>
          </a:prstGeom>
          <a:solidFill>
            <a:srgbClr val="1B2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498848" y="3312414"/>
            <a:ext cx="164592" cy="390906"/>
          </a:xfrm>
          <a:prstGeom prst="rect">
            <a:avLst/>
          </a:prstGeom>
          <a:solidFill>
            <a:srgbClr val="1B2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00016" y="3529584"/>
            <a:ext cx="164592" cy="173736"/>
          </a:xfrm>
          <a:prstGeom prst="rect">
            <a:avLst/>
          </a:prstGeom>
          <a:solidFill>
            <a:srgbClr val="1B2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901184" y="3225546"/>
            <a:ext cx="164592" cy="477774"/>
          </a:xfrm>
          <a:prstGeom prst="rect">
            <a:avLst/>
          </a:prstGeom>
          <a:solidFill>
            <a:srgbClr val="1B2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102352" y="3573018"/>
            <a:ext cx="164592" cy="130302"/>
          </a:xfrm>
          <a:prstGeom prst="rect">
            <a:avLst/>
          </a:prstGeom>
          <a:solidFill>
            <a:srgbClr val="1B2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0080" y="406908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" y="4069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AGREEMENT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33172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sounds like you are happy and excited. What...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5216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reviewer sees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852160" y="1691640"/>
            <a:ext cx="2834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probability vectors (text, face)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decision with α slider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affective-dissonance flag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 timing breakdown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empathetic reply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frame OR uploaded image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Benchmark · FER-7 Top-1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 · Baseline ResNet-50 face branch · α = 0.5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Affective Alignment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303520" cy="2194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Text-only (GoEmotions)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69.7 %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Image-only (FER2013)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078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+ image fused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branch only (same pairs)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82.6 %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branch only (same pairs)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893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say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89320" y="1691640"/>
            <a:ext cx="45720" cy="2697480"/>
          </a:xfrm>
          <a:prstGeom prst="rect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72200" y="1691640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branch is solid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69.7 % top-1 on full GoEmotions test split.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branch is the bottleneck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23.1 % is near-chance — domain shift from AffectNet to FER2013 grayscale.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stays close to text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81.6 % vs. 82.6 % text-only — small price for a face-aware decision.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the Visual Branch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 · Closing the AffectNet → FER2013 domain gap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Affective Alignment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468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5B6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23.1%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AffectNet checkpoint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2263140"/>
            <a:ext cx="640080" cy="0"/>
          </a:xfrm>
          <a:prstGeom prst="line">
            <a:avLst/>
          </a:prstGeom>
          <a:noFill/>
          <a:ln w="50800">
            <a:solidFill>
              <a:srgbClr val="E078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40480" y="1371600"/>
            <a:ext cx="2468880" cy="1783080"/>
          </a:xfrm>
          <a:prstGeom prst="rect">
            <a:avLst/>
          </a:prstGeom>
          <a:solidFill>
            <a:srgbClr val="1B2A4E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19659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68.5%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84048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FER2013 train split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2103120" cy="1783080"/>
          </a:xfrm>
          <a:prstGeom prst="rect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0" y="1554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+45.4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583680" y="23317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points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3× improvement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6118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matters.  </a:t>
            </a: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FER2013 test images are 48×48 grayscale upscaled to 224×224 — a noticeable domain shift from the AffectNet distribution. Fine-tuning closes most of that gap, taking face-only top-1 from near-chance to a usable signal.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Dissonance Evaluation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3 · What happens when text and face disagree?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Affective Alignment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 </a:t>
            </a:r>
            <a:r>
              <a:rPr lang="en-US" sz="1200" i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mismatch text with the gold face class via</a:t>
            </a:r>
            <a:r>
              <a:rPr lang="en-US" sz="1200" i="1" dirty="0">
                <a:solidFill>
                  <a:srgbClr val="1B2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 = (y + 1 + (k mod 6)) mod 7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15087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Dissonant setting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=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= 0.5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=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FER2013 + mismatched 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078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one-hot + mismatched 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24612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3246120"/>
            <a:ext cx="73152" cy="1371600"/>
          </a:xfrm>
          <a:prstGeom prst="rect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33558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Real-image row → reality check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703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face is only 23.1 % accurate, so fusion follows the misleading text most of the time.</a:t>
            </a:r>
            <a:endParaRPr lang="en-US" sz="1150" dirty="0"/>
          </a:p>
        </p:txBody>
      </p:sp>
      <p:sp>
        <p:nvSpPr>
          <p:cNvPr id="7" name="Shape 9"/>
          <p:cNvSpPr/>
          <p:nvPr/>
        </p:nvSpPr>
        <p:spPr>
          <a:xfrm>
            <a:off x="4663440" y="324612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63440" y="3246120"/>
            <a:ext cx="73152" cy="13716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46320" y="33558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row → fusion math is sound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46320" y="3703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perfect one-hot face, α = 0.5 fully recovers the intended class — the rule itself works.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α is an HCI Knob, Not a Hyperparameter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trust setting · exposed on the sidebar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Affective Alignment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28016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76072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don't tune α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60720" y="169164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is meant to be </a:t>
            </a:r>
            <a:r>
              <a:rPr lang="en-US" sz="12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</a:t>
            </a: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optimized on a held-out set.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0.5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whichever branch is more confident.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slide it to probe trust regimes: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α↑ trusts text, α↓ trusts face — the dissonance badge updates live.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Benchmark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 · Apple MPS · 15 timed runs after 3 warm-ups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Affective Alignment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029200" cy="230428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dev.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 subtotal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FLAN-T5 (base) generation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903.9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942.2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280160"/>
            <a:ext cx="2926080" cy="150876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60720" y="1325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 ms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760720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 inference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6072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comfortably under the 400 ms Doherty threshold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3017520"/>
            <a:ext cx="29260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89788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dominates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97880" y="3383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 (n=4) on a 220M-param model on a laptop GPU.</a:t>
            </a:r>
            <a:endParaRPr lang="en-US" sz="1050" dirty="0"/>
          </a:p>
        </p:txBody>
      </p:sp>
      <p:sp>
        <p:nvSpPr>
          <p:cNvPr id="6" name="Shape 11"/>
          <p:cNvSpPr/>
          <p:nvPr/>
        </p:nvSpPr>
        <p:spPr>
          <a:xfrm>
            <a:off x="5897880" y="3931920"/>
            <a:ext cx="265176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89788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stream tokens for sub-400 ms onset.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Qualitative Cases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6 · One real FER2013 image per gold class · baseline ResNet-50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Affective Alignment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669280" cy="248716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= 1  (text)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= 0.5  (fused)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= 0  (face)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078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Disgust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Disgust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Disgust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078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078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078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Surprise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Surprise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Surprise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078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078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078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078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5508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patterns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55080" y="1691640"/>
            <a:ext cx="45720" cy="2697480"/>
          </a:xfrm>
          <a:prstGeom prst="rect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92240" y="16916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branch is unreliable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Misclassifies 5 of 7 — collapses to </a:t>
            </a:r>
            <a:r>
              <a:rPr lang="en-US" sz="1100" i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branch rescues fused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fused decision toward gold on 6 of 7 cases.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failure: Neutral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GoEmotions reads </a:t>
            </a:r>
            <a:r>
              <a:rPr lang="en-US" sz="1100" dirty="0">
                <a:solidFill>
                  <a:srgbClr val="1B2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"feel pretty"</a:t>
            </a:r>
            <a:r>
              <a:rPr lang="en-US" sz="11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Happy.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 Empathetic Replies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7 · Deterministic beam search · only U and b* feed the prompt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Affective Alignment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9260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Fused b*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reply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hear that you are angry. What do you mean by "I will not stand for it"?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Disgust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Disgust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a bad thing to be seeing what you're seeing, or is it disgusting?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hear you are scared and anxious about this situation right now. What is the cause of your fear?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hear that you are happy and excited. What do you mean by "overjoyed"?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E078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everything gray and empty to me? (i) Yes. (ii) No.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Surprise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Surprise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E078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hear that you're so shocked and surprised I can barely process what just happened, this is incredible.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078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078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a normal quiet day, or is there something in particular happening to me?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7 </a:t>
            </a:r>
            <a:r>
              <a:rPr lang="en-US" sz="11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produce a clean second-person acknowledgement plus a follow-up question.  </a:t>
            </a: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 / Surprise </a:t>
            </a:r>
            <a:r>
              <a:rPr lang="en-US" sz="11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limitations of the 220M backbone — swappable for a 1B-class model.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Face Branch · Downstream Wins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9 &amp; 10 · From text-dominant to genuinely bimodal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Affective Alignment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bimodal benchmark (Table 9)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124358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Image-only (FER2013)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+ image fused (α = 0.5)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87.8 %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branch only (same pairs)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82.6 %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82.6 %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Real-image dissonance, full FER2013 test split (Table 10)</a:t>
            </a:r>
            <a:endParaRPr lang="en-US" sz="13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8229600" cy="93268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branch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=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= 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=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(AffectNet)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 (FER2013)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41.8 %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1B2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α = 0.5 jumps from 81.6 → 87.8 % matched, and from 4.3 → 41.8 % under planted-wrong text.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(Worth Naming)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5.8 · Two qualitative failures show up in our data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Affective Alignment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23360" cy="5029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Visual-branch domain shift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trained on color, near-frontal AffectNet faces.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to score 48×48 grayscale FER2013 frames upscaled to 224×224.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branch defaults to </a:t>
            </a:r>
            <a:r>
              <a:rPr lang="en-US" sz="1200" b="1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5 of 7 cases.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FER2013 fine-tune  →  23.1 % → 68.5 %.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502920"/>
          </a:xfrm>
          <a:prstGeom prst="rect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Text-branch sentiment leak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96596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GoEmotions head reacts to surface cue words.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Neutral template — </a:t>
            </a:r>
            <a:r>
              <a:rPr lang="en-US" sz="1200" dirty="0">
                <a:solidFill>
                  <a:srgbClr val="1B2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"feel pretty neutral..."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classified as </a:t>
            </a:r>
            <a:r>
              <a:rPr lang="en-US" sz="1200" b="1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because of the phrase "feel pretty".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failure mode α surfaces:  </a:t>
            </a: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mistake is visible, not silent.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5.10 · Where this study is incomplete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Affective Alignment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02920" cy="502920"/>
          </a:xfrm>
          <a:prstGeom prst="ellipse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2618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Probe, not a corpus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527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matched-template benchmark tests whether aligned text + face fuse consistently — it doesn't measure performance on spontaneous speech.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938528"/>
            <a:ext cx="502920" cy="502920"/>
          </a:xfrm>
          <a:prstGeom prst="ellipse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dissonance text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18541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dissonance probe pairs real images with template sentences, not utterances from real participants.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596896"/>
            <a:ext cx="502920" cy="502920"/>
          </a:xfrm>
          <a:prstGeom prst="ellipse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578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branch ceiling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8437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FER2013 label noise + AffectNet→FER2013 shift bound the face accuracy even after fine-tuning.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255264"/>
            <a:ext cx="502920" cy="502920"/>
          </a:xfrm>
          <a:prstGeom prst="ellipse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255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2369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generator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502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 base (220M) drifts into multiple-choice or paraphrase formats on Sad/Surprise. A ≥ 1B instruction-tuned model is a one-line swap.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3913632"/>
            <a:ext cx="502920" cy="502920"/>
          </a:xfrm>
          <a:prstGeom prst="ellipse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38953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Likert study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HCI component is expert review + a ready-to-run participant study template (docs/HCI_STUDY_TEMPLATE.md).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tell most of the story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Affective Alignment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1188" y="1417320"/>
            <a:ext cx="2697480" cy="1828800"/>
          </a:xfrm>
          <a:prstGeom prst="rect">
            <a:avLst/>
          </a:prstGeom>
          <a:solidFill>
            <a:srgbClr val="2A9D8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1188" y="16002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23.1 → 68.5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1188" y="23774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face top-1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09828" y="2697480"/>
            <a:ext cx="16002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1188" y="2788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fine-tune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23260" y="1417320"/>
            <a:ext cx="2697480" cy="1828800"/>
          </a:xfrm>
          <a:prstGeom prst="rect">
            <a:avLst/>
          </a:prstGeom>
          <a:solidFill>
            <a:srgbClr val="1B2A4E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23260" y="16002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81.6 → 87.8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23260" y="23774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fused (matched)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71900" y="2697480"/>
            <a:ext cx="16002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23260" y="2788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beats text alone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5332" y="1417320"/>
            <a:ext cx="2697480" cy="1828800"/>
          </a:xfrm>
          <a:prstGeom prst="rect">
            <a:avLst/>
          </a:prstGeom>
          <a:solidFill>
            <a:srgbClr val="E07856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85332" y="16002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4.3 → 41.8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085332" y="23774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fused (dissonant)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33972" y="2697480"/>
            <a:ext cx="16002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85332" y="2788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overrides wrong text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37947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works, the trust knob is interpretable, and the visual fine-tune flipped the system from text-dominant into genuinely bimodal — at zero change to the deployed code path beyond a checkpoint swap.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8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demo requests, and brutal critique welcome.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463040" cy="0"/>
          </a:xfrm>
          <a:prstGeom prst="line">
            <a:avLst/>
          </a:prstGeom>
          <a:noFill/>
          <a:ln w="254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is produced by a script in the repository.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scripts/run_evaluation.py · scripts/finetune_fer2013.py · scripts/eval_dissonant_fer2013.py · scripts/benchmark_latency.py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models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GoEmotions  ·  FER2013  ·  RoBERTa-base  ·  ResNet-50  ·  FLAN-T5 (base)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2137</Words>
  <Application>Microsoft Macintosh PowerPoint</Application>
  <PresentationFormat>On-screen Show (16:9)</PresentationFormat>
  <Paragraphs>446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Bimodal Affective Alignment</dc:title>
  <dc:subject>PptxGenJS Presentation</dc:subject>
  <dc:creator>Pagadala, Umapathy, Huang</dc:creator>
  <cp:lastModifiedBy>Umapathy, Vishakan</cp:lastModifiedBy>
  <cp:revision>2</cp:revision>
  <dcterms:created xsi:type="dcterms:W3CDTF">2026-04-27T04:47:06Z</dcterms:created>
  <dcterms:modified xsi:type="dcterms:W3CDTF">2026-04-27T04:53:08Z</dcterms:modified>
</cp:coreProperties>
</file>